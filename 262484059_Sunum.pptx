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72" r:id="rId5"/>
    <p:sldId id="259" r:id="rId6"/>
    <p:sldId id="260" r:id="rId7"/>
    <p:sldId id="274" r:id="rId8"/>
    <p:sldId id="261" r:id="rId9"/>
    <p:sldId id="262" r:id="rId10"/>
    <p:sldId id="289" r:id="rId11"/>
    <p:sldId id="264" r:id="rId12"/>
    <p:sldId id="266" r:id="rId13"/>
    <p:sldId id="263" r:id="rId14"/>
    <p:sldId id="265" r:id="rId15"/>
    <p:sldId id="268" r:id="rId16"/>
    <p:sldId id="269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4" r:id="rId25"/>
    <p:sldId id="285" r:id="rId26"/>
    <p:sldId id="287" r:id="rId27"/>
    <p:sldId id="288" r:id="rId28"/>
    <p:sldId id="270" r:id="rId29"/>
    <p:sldId id="275" r:id="rId30"/>
    <p:sldId id="271" r:id="rId3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j/JvooYizjVPY0LCr6V2wfKvL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2433D3-D508-407C-B85F-1D064F24965D}">
  <a:tblStyle styleId="{CF2433D3-D508-407C-B85F-1D064F24965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5169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3538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a4a54d993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ea4a54d993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ea4a54d993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56254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0" name="Google Shape;3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a4a54d993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g3ea4a54d993_0_1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3ea4a54d993_0_1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065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4a54d993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a4a54d993_0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g3ea4a54d993_0_2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2" name="Google Shape;52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9298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8805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7553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8735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96427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5455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30057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7862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025621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60265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3678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1" name="Google Shape;59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73018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dankhatri123h/books-datase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laude.ai" TargetMode="External"/><Relationship Id="rId4" Type="http://schemas.openxmlformats.org/officeDocument/2006/relationships/hyperlink" Target="https://www.deepseek.co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icons.getbootstrap.co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quilljs.com/" TargetMode="External"/><Relationship Id="rId5" Type="http://schemas.openxmlformats.org/officeDocument/2006/relationships/hyperlink" Target="https://sweetalert2.github.io/" TargetMode="External"/><Relationship Id="rId4" Type="http://schemas.openxmlformats.org/officeDocument/2006/relationships/hyperlink" Target="https://codeseven.github.io/toastr/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ilaydakoker5@gmail.co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0A1929"/>
          </a:solidFill>
          <a:ln w="12700" cap="flat" cmpd="sng">
            <a:solidFill>
              <a:srgbClr val="0A192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492240" y="4572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114032" y="4572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735824" y="4572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357616" y="4572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492240" y="118872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114032" y="118872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735824" y="118872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357616" y="118872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492240" y="192024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114032" y="192024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735824" y="192024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357616" y="192024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492240" y="265176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7114032" y="265176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735824" y="265176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8357616" y="265176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492240" y="338328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114032" y="338328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735824" y="338328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357616" y="338328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492240" y="41148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114032" y="41148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7735824" y="41148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8357616" y="4114800"/>
            <a:ext cx="109728" cy="109728"/>
          </a:xfrm>
          <a:prstGeom prst="ellipse">
            <a:avLst/>
          </a:prstGeom>
          <a:solidFill>
            <a:srgbClr val="1565C0">
              <a:alpha val="60000"/>
            </a:srgbClr>
          </a:solidFill>
          <a:ln w="12700" cap="flat" cmpd="sng">
            <a:solidFill>
              <a:srgbClr val="1565C0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6766560" y="1463040"/>
            <a:ext cx="1645920" cy="2011680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6858000" y="1554480"/>
            <a:ext cx="54864" cy="1828800"/>
          </a:xfrm>
          <a:prstGeom prst="rect">
            <a:avLst/>
          </a:prstGeom>
          <a:solidFill>
            <a:srgbClr val="0F1F2E"/>
          </a:solidFill>
          <a:ln w="12700" cap="flat" cmpd="sng">
            <a:solidFill>
              <a:srgbClr val="0F1F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1"/>
          <p:cNvCxnSpPr/>
          <p:nvPr/>
        </p:nvCxnSpPr>
        <p:spPr>
          <a:xfrm>
            <a:off x="7040880" y="1920240"/>
            <a:ext cx="1097280" cy="0"/>
          </a:xfrm>
          <a:prstGeom prst="straightConnector1">
            <a:avLst/>
          </a:prstGeom>
          <a:noFill/>
          <a:ln w="12700" cap="flat" cmpd="sng">
            <a:solidFill>
              <a:srgbClr val="FFFF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1"/>
          <p:cNvCxnSpPr/>
          <p:nvPr/>
        </p:nvCxnSpPr>
        <p:spPr>
          <a:xfrm>
            <a:off x="7040880" y="2286000"/>
            <a:ext cx="1097280" cy="0"/>
          </a:xfrm>
          <a:prstGeom prst="straightConnector1">
            <a:avLst/>
          </a:prstGeom>
          <a:noFill/>
          <a:ln w="12700" cap="flat" cmpd="sng">
            <a:solidFill>
              <a:srgbClr val="FFFF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" name="Google Shape;46;p1"/>
          <p:cNvCxnSpPr/>
          <p:nvPr/>
        </p:nvCxnSpPr>
        <p:spPr>
          <a:xfrm>
            <a:off x="7040880" y="2651760"/>
            <a:ext cx="731520" cy="0"/>
          </a:xfrm>
          <a:prstGeom prst="straightConnector1">
            <a:avLst/>
          </a:prstGeom>
          <a:noFill/>
          <a:ln w="12700" cap="flat" cmpd="sng">
            <a:solidFill>
              <a:srgbClr val="FFFFFF">
                <a:alpha val="70196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1"/>
          <p:cNvSpPr/>
          <p:nvPr/>
        </p:nvSpPr>
        <p:spPr>
          <a:xfrm>
            <a:off x="457199" y="676432"/>
            <a:ext cx="2056418" cy="382117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" name="Google Shape;48;p1"/>
          <p:cNvSpPr/>
          <p:nvPr/>
        </p:nvSpPr>
        <p:spPr>
          <a:xfrm>
            <a:off x="-195293" y="689072"/>
            <a:ext cx="2873300" cy="381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PROJESİ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8288" y="1129296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lang="en-US" sz="46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BookMark</a:t>
            </a:r>
            <a:endParaRPr sz="4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-37020" y="1986744"/>
            <a:ext cx="6392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700"/>
              <a:buFont typeface="Calibri"/>
              <a:buNone/>
            </a:pPr>
            <a:r>
              <a:rPr lang="en-US" sz="3200" b="0" i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Online </a:t>
            </a:r>
            <a:r>
              <a:rPr lang="en-US" sz="3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3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Satış</a:t>
            </a:r>
            <a:r>
              <a:rPr lang="en-US" sz="3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3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Keşif</a:t>
            </a:r>
            <a:r>
              <a:rPr lang="en-US" sz="3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Platformu</a:t>
            </a:r>
            <a:endParaRPr sz="3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1"/>
          <p:cNvCxnSpPr/>
          <p:nvPr/>
        </p:nvCxnSpPr>
        <p:spPr>
          <a:xfrm>
            <a:off x="253314" y="2468880"/>
            <a:ext cx="5303520" cy="0"/>
          </a:xfrm>
          <a:prstGeom prst="straightConnector1">
            <a:avLst/>
          </a:prstGeom>
          <a:noFill/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1"/>
          <p:cNvSpPr/>
          <p:nvPr/>
        </p:nvSpPr>
        <p:spPr>
          <a:xfrm>
            <a:off x="219456" y="2858972"/>
            <a:ext cx="5486400" cy="155448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375930" y="3064806"/>
            <a:ext cx="26763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95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Öğrenci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792223" y="3073984"/>
            <a:ext cx="3840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3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İlayda KÖKER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24180" y="3565298"/>
            <a:ext cx="2779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95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Öğrenci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No</a:t>
            </a:r>
            <a:r>
              <a:rPr lang="tr-TR" sz="3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3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2317986" y="3565298"/>
            <a:ext cx="3840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3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262484059</a:t>
            </a:r>
            <a:endParaRPr sz="3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324180" y="4077720"/>
            <a:ext cx="3089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95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Danışman</a:t>
            </a:r>
            <a:r>
              <a:rPr lang="en-US" sz="3000" b="1" i="0" u="none" strike="noStrike" cap="none" dirty="0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735293" y="3968328"/>
            <a:ext cx="572728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 err="1">
                <a:solidFill>
                  <a:schemeClr val="lt1"/>
                </a:solidFill>
              </a:rPr>
              <a:t>Öğr</a:t>
            </a:r>
            <a:r>
              <a:rPr lang="en-US" sz="2000" b="1" dirty="0">
                <a:solidFill>
                  <a:schemeClr val="lt1"/>
                </a:solidFill>
              </a:rPr>
              <a:t>. </a:t>
            </a:r>
            <a:r>
              <a:rPr lang="en-US" sz="2000" b="1" dirty="0" err="1">
                <a:solidFill>
                  <a:schemeClr val="lt1"/>
                </a:solidFill>
              </a:rPr>
              <a:t>Gör</a:t>
            </a:r>
            <a:r>
              <a:rPr lang="en-US" sz="2000" b="1" dirty="0">
                <a:solidFill>
                  <a:schemeClr val="lt1"/>
                </a:solidFill>
              </a:rPr>
              <a:t>. </a:t>
            </a:r>
            <a:r>
              <a:rPr lang="en-US" sz="2000" b="1" dirty="0" err="1">
                <a:solidFill>
                  <a:schemeClr val="lt1"/>
                </a:solidFill>
              </a:rPr>
              <a:t>Koray</a:t>
            </a:r>
            <a:r>
              <a:rPr lang="en-US" sz="2000" b="1" dirty="0">
                <a:solidFill>
                  <a:schemeClr val="lt1"/>
                </a:solidFill>
              </a:rPr>
              <a:t> ÇOŞKUN</a:t>
            </a:r>
            <a:endParaRPr sz="2000" b="1" dirty="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5EB2D6B-BB8F-EFC0-F7AA-3040B7E91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251" y="73152"/>
            <a:ext cx="3026461" cy="50703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Projenin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Tanımı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Book</a:t>
            </a:r>
            <a:r>
              <a:rPr lang="tr-TR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Mark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Nedir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0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82880" y="1133856"/>
            <a:ext cx="8558784" cy="69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ASP.NET Core 8.0 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eliştiril</a:t>
            </a:r>
            <a:r>
              <a:rPr lang="tr-TR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en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nline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itapçı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kuma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akip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3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3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latformudur</a:t>
            </a:r>
            <a:r>
              <a:rPr lang="en-US" sz="3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2125980"/>
            <a:ext cx="2029968" cy="1261872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44687" y="238086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69264" y="2491740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tr-TR" sz="35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Satışı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93192" y="2720340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496312" y="2125980"/>
            <a:ext cx="2029968" cy="1261872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6" name="Google Shape;76;p3"/>
          <p:cNvSpPr/>
          <p:nvPr/>
        </p:nvSpPr>
        <p:spPr>
          <a:xfrm>
            <a:off x="2457879" y="245745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900078" y="2558034"/>
            <a:ext cx="20299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Okuma</a:t>
            </a:r>
            <a:endParaRPr lang="tr-TR" sz="3500" b="1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Takibi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516886" y="2994660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672584" y="2125980"/>
            <a:ext cx="2029968" cy="1261872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644295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216652" y="2491740"/>
            <a:ext cx="143560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Kişisel</a:t>
            </a: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Raflar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790313" y="3022092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848856" y="2125980"/>
            <a:ext cx="2029968" cy="1261872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771989" y="241173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128893" y="2724912"/>
            <a:ext cx="1738501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Değerlendir</a:t>
            </a:r>
            <a:r>
              <a:rPr lang="tr-TR" sz="35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me</a:t>
            </a:r>
            <a:r>
              <a:rPr lang="tr-TR" sz="2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tr-TR" sz="2500" b="1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tr-TR" sz="2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949440" y="2976372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20040" y="3543300"/>
            <a:ext cx="2029968" cy="126187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15468" y="385191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17817" y="390906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tr-TR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Asistan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93192" y="4137660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496312" y="3543300"/>
            <a:ext cx="2029968" cy="126187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2546604" y="384962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960799" y="3918204"/>
            <a:ext cx="1519189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Güvenli</a:t>
            </a: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Kimlik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560320" y="4350258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672584" y="3543300"/>
            <a:ext cx="2029968" cy="126187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742593" y="383819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5277231" y="3927348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r>
              <a:rPr lang="en-US" sz="3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Paneli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711448" y="4357116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48856" y="3543300"/>
            <a:ext cx="2029968" cy="1261872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6847713" y="3276981"/>
            <a:ext cx="352044" cy="95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173472" y="4041648"/>
            <a:ext cx="18013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5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Profil</a:t>
            </a:r>
            <a:r>
              <a:rPr lang="en-US" sz="35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5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Yönetimi</a:t>
            </a:r>
            <a:endParaRPr sz="35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87720" y="4329684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Planlama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Kapsamı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Kaynaklar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" y="594360"/>
            <a:ext cx="5177790" cy="576072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7030A0"/>
              </a:solidFill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85216" y="676620"/>
            <a:ext cx="664089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3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Neden</a:t>
            </a: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</a:t>
            </a:r>
            <a:r>
              <a:rPr lang="tr-TR" sz="3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ookMark</a:t>
            </a:r>
            <a:r>
              <a:rPr lang="en-US" sz="3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3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84048" y="969264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0" y="1686651"/>
            <a:ext cx="11183112" cy="1086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1A2332"/>
              </a:buClr>
              <a:buSzPts val="950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r>
              <a:rPr lang="tr-TR" sz="4000" dirty="0"/>
              <a:t>Parçalanmış okur deneyimi</a:t>
            </a:r>
          </a:p>
          <a:p>
            <a:pPr>
              <a:buClr>
                <a:srgbClr val="1A2332"/>
              </a:buClr>
              <a:buSzPts val="950"/>
            </a:pPr>
            <a:r>
              <a:rPr lang="tr-TR" sz="4000" dirty="0"/>
              <a:t>     sorununa çözüm</a:t>
            </a:r>
            <a:endParaRPr lang="en-US"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8288" y="3090210"/>
            <a:ext cx="883996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1A2332"/>
              </a:buClr>
              <a:buSzPts val="950"/>
            </a:pPr>
            <a:r>
              <a:rPr lang="en-US" sz="4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r>
              <a:rPr lang="tr-TR" sz="4000" dirty="0"/>
              <a:t>Kişiselleştirilebilir dijital     </a:t>
            </a:r>
          </a:p>
          <a:p>
            <a:pPr>
              <a:buClr>
                <a:srgbClr val="1A2332"/>
              </a:buClr>
              <a:buSzPts val="950"/>
            </a:pPr>
            <a:r>
              <a:rPr lang="tr-TR" sz="4000" dirty="0"/>
              <a:t>     kütüphane ve kitaplık (raf) sistemi.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23E1295D-00A6-4B51-DB2A-7AA6FD4AC50B}"/>
              </a:ext>
            </a:extLst>
          </p:cNvPr>
          <p:cNvSpPr txBox="1"/>
          <p:nvPr/>
        </p:nvSpPr>
        <p:spPr>
          <a:xfrm>
            <a:off x="18288" y="3956670"/>
            <a:ext cx="8748522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r>
              <a:rPr lang="tr-TR" sz="3500" dirty="0"/>
              <a:t>Kullanıcıya özel öneriler sunan yapay zeka entegrasyonu.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754880" y="4450842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906008" y="4457700"/>
            <a:ext cx="190195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4">
            <a:extLst>
              <a:ext uri="{FF2B5EF4-FFF2-40B4-BE49-F238E27FC236}">
                <a16:creationId xmlns:a16="http://schemas.microsoft.com/office/drawing/2014/main" id="{16DD1A6B-D563-B4EB-8663-DCE11FBA7774}"/>
              </a:ext>
            </a:extLst>
          </p:cNvPr>
          <p:cNvSpPr/>
          <p:nvPr/>
        </p:nvSpPr>
        <p:spPr>
          <a:xfrm>
            <a:off x="4754880" y="2061453"/>
            <a:ext cx="4114800" cy="714405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30;p4">
            <a:extLst>
              <a:ext uri="{FF2B5EF4-FFF2-40B4-BE49-F238E27FC236}">
                <a16:creationId xmlns:a16="http://schemas.microsoft.com/office/drawing/2014/main" id="{1E3C6703-9CC9-18F6-BB03-41E980136A72}"/>
              </a:ext>
            </a:extLst>
          </p:cNvPr>
          <p:cNvSpPr/>
          <p:nvPr/>
        </p:nvSpPr>
        <p:spPr>
          <a:xfrm>
            <a:off x="5566410" y="2208354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160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Kaynakları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Gereksinimler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4;p4">
            <a:extLst>
              <a:ext uri="{FF2B5EF4-FFF2-40B4-BE49-F238E27FC236}">
                <a16:creationId xmlns:a16="http://schemas.microsoft.com/office/drawing/2014/main" id="{F21A5830-4942-A23C-F5F1-E7B909FB9C19}"/>
              </a:ext>
            </a:extLst>
          </p:cNvPr>
          <p:cNvSpPr/>
          <p:nvPr/>
        </p:nvSpPr>
        <p:spPr>
          <a:xfrm>
            <a:off x="4754880" y="2855136"/>
            <a:ext cx="411480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36;p4">
            <a:extLst>
              <a:ext uri="{FF2B5EF4-FFF2-40B4-BE49-F238E27FC236}">
                <a16:creationId xmlns:a16="http://schemas.microsoft.com/office/drawing/2014/main" id="{788880D6-3DBB-76F2-9D44-264BC308F193}"/>
              </a:ext>
            </a:extLst>
          </p:cNvPr>
          <p:cNvSpPr/>
          <p:nvPr/>
        </p:nvSpPr>
        <p:spPr>
          <a:xfrm>
            <a:off x="4812030" y="2986581"/>
            <a:ext cx="5623560" cy="27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Visual Studio 2022, .NET 8 SDK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37;p4">
            <a:extLst>
              <a:ext uri="{FF2B5EF4-FFF2-40B4-BE49-F238E27FC236}">
                <a16:creationId xmlns:a16="http://schemas.microsoft.com/office/drawing/2014/main" id="{16FA2DA8-BC8F-9E2C-5C4E-205ED8604962}"/>
              </a:ext>
            </a:extLst>
          </p:cNvPr>
          <p:cNvSpPr/>
          <p:nvPr/>
        </p:nvSpPr>
        <p:spPr>
          <a:xfrm>
            <a:off x="4754880" y="3291048"/>
            <a:ext cx="4114800" cy="36647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39;p4">
            <a:extLst>
              <a:ext uri="{FF2B5EF4-FFF2-40B4-BE49-F238E27FC236}">
                <a16:creationId xmlns:a16="http://schemas.microsoft.com/office/drawing/2014/main" id="{D417E08B-E5FC-3227-BD2B-E43174F32CDA}"/>
              </a:ext>
            </a:extLst>
          </p:cNvPr>
          <p:cNvSpPr/>
          <p:nvPr/>
        </p:nvSpPr>
        <p:spPr>
          <a:xfrm>
            <a:off x="4850893" y="3398472"/>
            <a:ext cx="4594859" cy="221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SQL Server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LocalDB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40;p4">
            <a:extLst>
              <a:ext uri="{FF2B5EF4-FFF2-40B4-BE49-F238E27FC236}">
                <a16:creationId xmlns:a16="http://schemas.microsoft.com/office/drawing/2014/main" id="{19C457F8-F7CD-C10D-5BBC-CF8CB259125B}"/>
              </a:ext>
            </a:extLst>
          </p:cNvPr>
          <p:cNvSpPr/>
          <p:nvPr/>
        </p:nvSpPr>
        <p:spPr>
          <a:xfrm>
            <a:off x="4754880" y="3669774"/>
            <a:ext cx="4114800" cy="42664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42;p4">
            <a:extLst>
              <a:ext uri="{FF2B5EF4-FFF2-40B4-BE49-F238E27FC236}">
                <a16:creationId xmlns:a16="http://schemas.microsoft.com/office/drawing/2014/main" id="{5F1C3153-0284-37C7-324C-A1091AAB5DFD}"/>
              </a:ext>
            </a:extLst>
          </p:cNvPr>
          <p:cNvSpPr/>
          <p:nvPr/>
        </p:nvSpPr>
        <p:spPr>
          <a:xfrm>
            <a:off x="4812030" y="372994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DeepSeek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API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43;p4">
            <a:extLst>
              <a:ext uri="{FF2B5EF4-FFF2-40B4-BE49-F238E27FC236}">
                <a16:creationId xmlns:a16="http://schemas.microsoft.com/office/drawing/2014/main" id="{9D4E40FC-07A5-9830-B6E7-109106876B4B}"/>
              </a:ext>
            </a:extLst>
          </p:cNvPr>
          <p:cNvSpPr/>
          <p:nvPr/>
        </p:nvSpPr>
        <p:spPr>
          <a:xfrm>
            <a:off x="4754880" y="4105971"/>
            <a:ext cx="4114800" cy="382209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45;p4">
            <a:extLst>
              <a:ext uri="{FF2B5EF4-FFF2-40B4-BE49-F238E27FC236}">
                <a16:creationId xmlns:a16="http://schemas.microsoft.com/office/drawing/2014/main" id="{C6725A99-8718-6036-5334-8B0428FF93F5}"/>
              </a:ext>
            </a:extLst>
          </p:cNvPr>
          <p:cNvSpPr/>
          <p:nvPr/>
        </p:nvSpPr>
        <p:spPr>
          <a:xfrm>
            <a:off x="4812030" y="4150584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Git / GitHub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146;p4">
            <a:extLst>
              <a:ext uri="{FF2B5EF4-FFF2-40B4-BE49-F238E27FC236}">
                <a16:creationId xmlns:a16="http://schemas.microsoft.com/office/drawing/2014/main" id="{3E8CF7C2-654E-1C12-D6BB-4EFCA8AB46A5}"/>
              </a:ext>
            </a:extLst>
          </p:cNvPr>
          <p:cNvSpPr/>
          <p:nvPr/>
        </p:nvSpPr>
        <p:spPr>
          <a:xfrm>
            <a:off x="4754880" y="4497735"/>
            <a:ext cx="411480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48;p4">
            <a:extLst>
              <a:ext uri="{FF2B5EF4-FFF2-40B4-BE49-F238E27FC236}">
                <a16:creationId xmlns:a16="http://schemas.microsoft.com/office/drawing/2014/main" id="{9A55806C-116B-6C2A-FDA2-792296DD3F21}"/>
              </a:ext>
            </a:extLst>
          </p:cNvPr>
          <p:cNvSpPr/>
          <p:nvPr/>
        </p:nvSpPr>
        <p:spPr>
          <a:xfrm>
            <a:off x="4791456" y="4598622"/>
            <a:ext cx="5074920" cy="247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500+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CSV seed data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149;p4">
            <a:extLst>
              <a:ext uri="{FF2B5EF4-FFF2-40B4-BE49-F238E27FC236}">
                <a16:creationId xmlns:a16="http://schemas.microsoft.com/office/drawing/2014/main" id="{8EEDA90D-FDF6-02F6-7FD2-E6ED8E5DC7C8}"/>
              </a:ext>
            </a:extLst>
          </p:cNvPr>
          <p:cNvSpPr/>
          <p:nvPr/>
        </p:nvSpPr>
        <p:spPr>
          <a:xfrm>
            <a:off x="182880" y="601200"/>
            <a:ext cx="4869180" cy="51210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150;p4">
            <a:extLst>
              <a:ext uri="{FF2B5EF4-FFF2-40B4-BE49-F238E27FC236}">
                <a16:creationId xmlns:a16="http://schemas.microsoft.com/office/drawing/2014/main" id="{DAC8F720-713F-9530-A2C5-E3C25337D845}"/>
              </a:ext>
            </a:extLst>
          </p:cNvPr>
          <p:cNvSpPr/>
          <p:nvPr/>
        </p:nvSpPr>
        <p:spPr>
          <a:xfrm>
            <a:off x="0" y="621792"/>
            <a:ext cx="58521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🔄  </a:t>
            </a:r>
            <a:r>
              <a:rPr lang="en-US" sz="30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Tercih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Edilen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Süreç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Modeli</a:t>
            </a:r>
            <a:r>
              <a:rPr lang="en-US" sz="3000" b="1" i="0" u="none" strike="noStrike" cap="none" dirty="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sz="3000" b="0" i="0" u="none" strike="noStrike" cap="none" dirty="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51;p4">
            <a:extLst>
              <a:ext uri="{FF2B5EF4-FFF2-40B4-BE49-F238E27FC236}">
                <a16:creationId xmlns:a16="http://schemas.microsoft.com/office/drawing/2014/main" id="{3F9AF2E5-E9D3-7CB9-3D5F-B8E4956E51FF}"/>
              </a:ext>
            </a:extLst>
          </p:cNvPr>
          <p:cNvSpPr/>
          <p:nvPr/>
        </p:nvSpPr>
        <p:spPr>
          <a:xfrm>
            <a:off x="0" y="1497330"/>
            <a:ext cx="876681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Artımlı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(Incremental) Model —</a:t>
            </a:r>
            <a:endParaRPr lang="tr-TR" sz="2000" b="0" i="0" u="none" strike="noStrike" cap="none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Her sprint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sonunda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çalışan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bir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modül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teslim</a:t>
            </a:r>
            <a:endParaRPr lang="tr-TR" sz="2000" b="0" i="0" u="none" strike="noStrike" cap="none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edilmiştir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Gereksinimler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erken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belirlenerek</a:t>
            </a:r>
            <a:endParaRPr lang="tr-TR" sz="2000" b="0" i="0" u="none" strike="noStrike" cap="none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iteratif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geliştirme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yapılmıştır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112;p4">
            <a:extLst>
              <a:ext uri="{FF2B5EF4-FFF2-40B4-BE49-F238E27FC236}">
                <a16:creationId xmlns:a16="http://schemas.microsoft.com/office/drawing/2014/main" id="{D462DF48-161C-8638-BD03-2294E5265B62}"/>
              </a:ext>
            </a:extLst>
          </p:cNvPr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113;p4">
            <a:extLst>
              <a:ext uri="{FF2B5EF4-FFF2-40B4-BE49-F238E27FC236}">
                <a16:creationId xmlns:a16="http://schemas.microsoft.com/office/drawing/2014/main" id="{AB37971B-FB84-3C0B-4F06-9D5EF1D0C7D4}"/>
              </a:ext>
            </a:extLst>
          </p:cNvPr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14;p4">
            <a:extLst>
              <a:ext uri="{FF2B5EF4-FFF2-40B4-BE49-F238E27FC236}">
                <a16:creationId xmlns:a16="http://schemas.microsoft.com/office/drawing/2014/main" id="{3BE412B1-B774-B469-52DB-083A83ACA269}"/>
              </a:ext>
            </a:extLst>
          </p:cNvPr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Planlama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Kapsamı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Kaynaklar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11;p4">
            <a:extLst>
              <a:ext uri="{FF2B5EF4-FFF2-40B4-BE49-F238E27FC236}">
                <a16:creationId xmlns:a16="http://schemas.microsoft.com/office/drawing/2014/main" id="{A020644C-5856-09A2-2A7C-F15A20FA5BE2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112;p4">
            <a:extLst>
              <a:ext uri="{FF2B5EF4-FFF2-40B4-BE49-F238E27FC236}">
                <a16:creationId xmlns:a16="http://schemas.microsoft.com/office/drawing/2014/main" id="{24D3E6B4-1DAD-0616-CE80-50C0A8A78808}"/>
              </a:ext>
            </a:extLst>
          </p:cNvPr>
          <p:cNvSpPr/>
          <p:nvPr/>
        </p:nvSpPr>
        <p:spPr>
          <a:xfrm>
            <a:off x="91440" y="411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2BC2ACE0-1253-594A-D9CF-AD4B93EBAD6C}"/>
              </a:ext>
            </a:extLst>
          </p:cNvPr>
          <p:cNvSpPr txBox="1"/>
          <p:nvPr/>
        </p:nvSpPr>
        <p:spPr>
          <a:xfrm>
            <a:off x="128016" y="13578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tr-TR" sz="2000" dirty="0"/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D32D0FDA-6A5E-8D19-4260-CEB9B4927850}"/>
              </a:ext>
            </a:extLst>
          </p:cNvPr>
          <p:cNvSpPr txBox="1"/>
          <p:nvPr/>
        </p:nvSpPr>
        <p:spPr>
          <a:xfrm>
            <a:off x="475488" y="-56061"/>
            <a:ext cx="86136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Planlama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Kapsamı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Kaynaklar</a:t>
            </a:r>
            <a:endParaRPr lang="en-US"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400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</a:p>
        </p:txBody>
      </p:sp>
      <p:sp>
        <p:nvSpPr>
          <p:cNvPr id="160" name="Google Shape;160;p5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Planlama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Gantt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Şeması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Haftalık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İlerleyiş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560320" y="594360"/>
            <a:ext cx="6309360" cy="29260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256032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08610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5"/>
          <p:cNvCxnSpPr/>
          <p:nvPr/>
        </p:nvCxnSpPr>
        <p:spPr>
          <a:xfrm>
            <a:off x="308610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5"/>
          <p:cNvSpPr/>
          <p:nvPr/>
        </p:nvSpPr>
        <p:spPr>
          <a:xfrm>
            <a:off x="361188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H3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5"/>
          <p:cNvCxnSpPr/>
          <p:nvPr/>
        </p:nvCxnSpPr>
        <p:spPr>
          <a:xfrm>
            <a:off x="361188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5"/>
          <p:cNvSpPr/>
          <p:nvPr/>
        </p:nvSpPr>
        <p:spPr>
          <a:xfrm>
            <a:off x="413766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H4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5"/>
          <p:cNvCxnSpPr/>
          <p:nvPr/>
        </p:nvCxnSpPr>
        <p:spPr>
          <a:xfrm>
            <a:off x="413766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5"/>
          <p:cNvSpPr/>
          <p:nvPr/>
        </p:nvSpPr>
        <p:spPr>
          <a:xfrm>
            <a:off x="466344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H5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5"/>
          <p:cNvCxnSpPr/>
          <p:nvPr/>
        </p:nvCxnSpPr>
        <p:spPr>
          <a:xfrm>
            <a:off x="466344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5"/>
          <p:cNvSpPr/>
          <p:nvPr/>
        </p:nvSpPr>
        <p:spPr>
          <a:xfrm>
            <a:off x="518922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H6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518922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5"/>
          <p:cNvSpPr/>
          <p:nvPr/>
        </p:nvSpPr>
        <p:spPr>
          <a:xfrm>
            <a:off x="571500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H7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5"/>
          <p:cNvCxnSpPr/>
          <p:nvPr/>
        </p:nvCxnSpPr>
        <p:spPr>
          <a:xfrm>
            <a:off x="571500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5" name="Google Shape;175;p5"/>
          <p:cNvSpPr/>
          <p:nvPr/>
        </p:nvSpPr>
        <p:spPr>
          <a:xfrm>
            <a:off x="624078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624078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5"/>
          <p:cNvSpPr/>
          <p:nvPr/>
        </p:nvSpPr>
        <p:spPr>
          <a:xfrm>
            <a:off x="676656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H9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5"/>
          <p:cNvCxnSpPr/>
          <p:nvPr/>
        </p:nvCxnSpPr>
        <p:spPr>
          <a:xfrm>
            <a:off x="676656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5"/>
          <p:cNvSpPr/>
          <p:nvPr/>
        </p:nvSpPr>
        <p:spPr>
          <a:xfrm>
            <a:off x="729234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H10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5"/>
          <p:cNvCxnSpPr/>
          <p:nvPr/>
        </p:nvCxnSpPr>
        <p:spPr>
          <a:xfrm>
            <a:off x="729234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5"/>
          <p:cNvSpPr/>
          <p:nvPr/>
        </p:nvSpPr>
        <p:spPr>
          <a:xfrm>
            <a:off x="781812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5"/>
          <p:cNvCxnSpPr/>
          <p:nvPr/>
        </p:nvCxnSpPr>
        <p:spPr>
          <a:xfrm>
            <a:off x="781812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5"/>
          <p:cNvSpPr/>
          <p:nvPr/>
        </p:nvSpPr>
        <p:spPr>
          <a:xfrm>
            <a:off x="8343900" y="594360"/>
            <a:ext cx="5257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H12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5"/>
          <p:cNvCxnSpPr/>
          <p:nvPr/>
        </p:nvCxnSpPr>
        <p:spPr>
          <a:xfrm>
            <a:off x="8343900" y="594360"/>
            <a:ext cx="0" cy="292608"/>
          </a:xfrm>
          <a:prstGeom prst="straightConnector1">
            <a:avLst/>
          </a:prstGeom>
          <a:noFill/>
          <a:ln w="12700" cap="flat" cmpd="sng">
            <a:solidFill>
              <a:srgbClr val="42A5F5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5"/>
          <p:cNvSpPr/>
          <p:nvPr/>
        </p:nvSpPr>
        <p:spPr>
          <a:xfrm>
            <a:off x="0" y="886968"/>
            <a:ext cx="256032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0010" y="886968"/>
            <a:ext cx="2407158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Gereksinim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&amp;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Planlama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2560320" y="886968"/>
            <a:ext cx="630936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2596896" y="951433"/>
            <a:ext cx="452628" cy="30083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0" y="1316736"/>
            <a:ext cx="256032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" name="Google Shape;190;p5"/>
          <p:cNvSpPr/>
          <p:nvPr/>
        </p:nvSpPr>
        <p:spPr>
          <a:xfrm>
            <a:off x="64007" y="1485672"/>
            <a:ext cx="2407158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Veritabanı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Tasarımı</a:t>
            </a: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Modeller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560320" y="1316736"/>
            <a:ext cx="630936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3122676" y="1381201"/>
            <a:ext cx="452628" cy="300838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0" y="1746504"/>
            <a:ext cx="256032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7432" y="1949730"/>
            <a:ext cx="300609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Identity &amp;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Güvenlik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Kurulumu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560320" y="1746504"/>
            <a:ext cx="630936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3648456" y="1810969"/>
            <a:ext cx="452628" cy="300838"/>
          </a:xfrm>
          <a:prstGeom prst="rect">
            <a:avLst/>
          </a:prstGeom>
          <a:solidFill>
            <a:srgbClr val="6A1B9A"/>
          </a:solidFill>
          <a:ln w="12700" cap="flat" cmpd="sng">
            <a:solidFill>
              <a:srgbClr val="6A1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0" y="2176272"/>
            <a:ext cx="256032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64007" y="2322576"/>
            <a:ext cx="2496312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Admin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Paneli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Geliştirme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560320" y="2176272"/>
            <a:ext cx="630936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174236" y="2240737"/>
            <a:ext cx="978408" cy="300838"/>
          </a:xfrm>
          <a:prstGeom prst="rect">
            <a:avLst/>
          </a:prstGeom>
          <a:solidFill>
            <a:srgbClr val="C62828"/>
          </a:solidFill>
          <a:ln w="12700" cap="flat" cmpd="sng">
            <a:solidFill>
              <a:srgbClr val="C6282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0" y="2606040"/>
            <a:ext cx="256032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49733" y="2820924"/>
            <a:ext cx="2761488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Müşteri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Arayüzü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Katalog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Detay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560320" y="2606040"/>
            <a:ext cx="630936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700016" y="2670505"/>
            <a:ext cx="978408" cy="30083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0" y="3035808"/>
            <a:ext cx="256032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132017" y="3239262"/>
            <a:ext cx="2560319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Alışveriş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Sepeti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Fiyatlandırma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2560320" y="3035808"/>
            <a:ext cx="630936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5225796" y="3100273"/>
            <a:ext cx="978408" cy="300838"/>
          </a:xfrm>
          <a:prstGeom prst="rect">
            <a:avLst/>
          </a:prstGeom>
          <a:solidFill>
            <a:srgbClr val="00695C"/>
          </a:solidFill>
          <a:ln w="12700" cap="flat" cmpd="sng">
            <a:solidFill>
              <a:srgbClr val="0069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0" y="3465576"/>
            <a:ext cx="256032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132016" y="3657600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Okuma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Takibi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Raflar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2560320" y="3465576"/>
            <a:ext cx="630936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5751576" y="3530041"/>
            <a:ext cx="978408" cy="300838"/>
          </a:xfrm>
          <a:prstGeom prst="rect">
            <a:avLst/>
          </a:prstGeom>
          <a:solidFill>
            <a:srgbClr val="1B5E20"/>
          </a:solidFill>
          <a:ln w="12700" cap="flat" cmpd="sng">
            <a:solidFill>
              <a:srgbClr val="1B5E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0" y="3895344"/>
            <a:ext cx="256032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5"/>
          <p:cNvSpPr/>
          <p:nvPr/>
        </p:nvSpPr>
        <p:spPr>
          <a:xfrm>
            <a:off x="128587" y="4098798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AI Chat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Asistanı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Entegrasyonu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2560320" y="3895344"/>
            <a:ext cx="630936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6803136" y="3959809"/>
            <a:ext cx="978408" cy="300838"/>
          </a:xfrm>
          <a:prstGeom prst="rect">
            <a:avLst/>
          </a:prstGeom>
          <a:solidFill>
            <a:srgbClr val="4527A0"/>
          </a:solidFill>
          <a:ln w="12700" cap="flat" cmpd="sng">
            <a:solidFill>
              <a:srgbClr val="4527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0" y="4325112"/>
            <a:ext cx="256032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240030" y="4528566"/>
            <a:ext cx="2103120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Test &amp;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Hata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Giderme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2560320" y="4325112"/>
            <a:ext cx="6309360" cy="42976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7818120" y="4389577"/>
            <a:ext cx="525777" cy="300838"/>
          </a:xfrm>
          <a:prstGeom prst="rect">
            <a:avLst/>
          </a:prstGeom>
          <a:solidFill>
            <a:srgbClr val="AD1457"/>
          </a:solidFill>
          <a:ln w="12700" cap="flat" cmpd="sng">
            <a:solidFill>
              <a:srgbClr val="AD14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"/>
          <p:cNvSpPr/>
          <p:nvPr/>
        </p:nvSpPr>
        <p:spPr>
          <a:xfrm>
            <a:off x="0" y="4754880"/>
            <a:ext cx="256032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100583" y="4764024"/>
            <a:ext cx="2459736" cy="429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Dokümantasyon</a:t>
            </a:r>
            <a:r>
              <a:rPr lang="en-US" sz="25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2560320" y="4754880"/>
            <a:ext cx="6309360" cy="4297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8343897" y="4819345"/>
            <a:ext cx="480063" cy="300838"/>
          </a:xfrm>
          <a:prstGeom prst="rect">
            <a:avLst/>
          </a:prstGeom>
          <a:solidFill>
            <a:srgbClr val="4E342E"/>
          </a:solidFill>
          <a:ln w="12700" cap="flat" cmpd="sng">
            <a:solidFill>
              <a:srgbClr val="4E342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5" name="Google Shape;225;p5"/>
          <p:cNvCxnSpPr/>
          <p:nvPr/>
        </p:nvCxnSpPr>
        <p:spPr>
          <a:xfrm>
            <a:off x="308610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6" name="Google Shape;226;p5"/>
          <p:cNvCxnSpPr/>
          <p:nvPr/>
        </p:nvCxnSpPr>
        <p:spPr>
          <a:xfrm>
            <a:off x="361188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7" name="Google Shape;227;p5"/>
          <p:cNvCxnSpPr/>
          <p:nvPr/>
        </p:nvCxnSpPr>
        <p:spPr>
          <a:xfrm>
            <a:off x="413766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5"/>
          <p:cNvCxnSpPr/>
          <p:nvPr/>
        </p:nvCxnSpPr>
        <p:spPr>
          <a:xfrm>
            <a:off x="466344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5"/>
          <p:cNvCxnSpPr/>
          <p:nvPr/>
        </p:nvCxnSpPr>
        <p:spPr>
          <a:xfrm>
            <a:off x="518922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5"/>
          <p:cNvCxnSpPr/>
          <p:nvPr/>
        </p:nvCxnSpPr>
        <p:spPr>
          <a:xfrm>
            <a:off x="571500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5"/>
          <p:cNvCxnSpPr/>
          <p:nvPr/>
        </p:nvCxnSpPr>
        <p:spPr>
          <a:xfrm>
            <a:off x="624078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5"/>
          <p:cNvCxnSpPr/>
          <p:nvPr/>
        </p:nvCxnSpPr>
        <p:spPr>
          <a:xfrm>
            <a:off x="676656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3" name="Google Shape;233;p5"/>
          <p:cNvCxnSpPr/>
          <p:nvPr/>
        </p:nvCxnSpPr>
        <p:spPr>
          <a:xfrm>
            <a:off x="729234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5"/>
          <p:cNvCxnSpPr/>
          <p:nvPr/>
        </p:nvCxnSpPr>
        <p:spPr>
          <a:xfrm>
            <a:off x="781812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5"/>
          <p:cNvCxnSpPr/>
          <p:nvPr/>
        </p:nvCxnSpPr>
        <p:spPr>
          <a:xfrm>
            <a:off x="8343900" y="886968"/>
            <a:ext cx="0" cy="4297680"/>
          </a:xfrm>
          <a:prstGeom prst="straightConnector1">
            <a:avLst/>
          </a:prstGeom>
          <a:noFill/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p6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Çözümleme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Analiz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Yazılım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Gereksinimleri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0" y="42519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6"/>
          <p:cNvGraphicFramePr/>
          <p:nvPr>
            <p:extLst>
              <p:ext uri="{D42A27DB-BD31-4B8C-83A1-F6EECF244321}">
                <p14:modId xmlns:p14="http://schemas.microsoft.com/office/powerpoint/2010/main" val="2606481978"/>
              </p:ext>
            </p:extLst>
          </p:nvPr>
        </p:nvGraphicFramePr>
        <p:xfrm>
          <a:off x="554355" y="486371"/>
          <a:ext cx="8035290" cy="4648300"/>
        </p:xfrm>
        <a:graphic>
          <a:graphicData uri="http://schemas.openxmlformats.org/drawingml/2006/table">
            <a:tbl>
              <a:tblPr>
                <a:noFill/>
                <a:tableStyleId>{CF2433D3-D508-407C-B85F-1D064F24965D}</a:tableStyleId>
              </a:tblPr>
              <a:tblGrid>
                <a:gridCol w="8035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lang="tr-TR" sz="2000" b="1" u="none" strike="noStrike" cap="none" dirty="0">
                          <a:solidFill>
                            <a:srgbClr val="FFFFFF"/>
                          </a:solidFill>
                        </a:rPr>
                        <a:t>Fonksiyonel </a:t>
                      </a:r>
                      <a:r>
                        <a:rPr lang="en-US" sz="2000" b="1" u="none" strike="noStrike" cap="none" dirty="0" err="1">
                          <a:solidFill>
                            <a:srgbClr val="FFFFFF"/>
                          </a:solidFill>
                        </a:rPr>
                        <a:t>Gereksinim</a:t>
                      </a:r>
                      <a:r>
                        <a:rPr lang="tr-TR" sz="2000" b="1" u="none" strike="noStrike" cap="none" dirty="0" err="1">
                          <a:solidFill>
                            <a:srgbClr val="FFFFFF"/>
                          </a:solidFill>
                        </a:rPr>
                        <a:t>ler</a:t>
                      </a:r>
                      <a:endParaRPr sz="20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Kullanıcı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kaydı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ve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kimlik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doğrulama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Rol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tabanlı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yetkilendirme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(Admin/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Müşteri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)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Kitap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katalog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listeleme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,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arama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ve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filtreleme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Alışveriş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sepeti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ve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kademeli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fiyatlandırma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Okuma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durumu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takibi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(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İstiyorum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/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Okuyorum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/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Okudum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)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Kişisel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raf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oluşturma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ve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kitap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yönetimi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Kitap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değerlendirme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ve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yorum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sistemi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AI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destekli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kitap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asistanı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(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DeepSeek</a:t>
                      </a: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 API)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221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850"/>
                        <a:buFont typeface="Calibri"/>
                        <a:buNone/>
                      </a:pPr>
                      <a:r>
                        <a:rPr lang="en-US" sz="2500" u="none" strike="noStrike" cap="none" dirty="0">
                          <a:solidFill>
                            <a:srgbClr val="1A2332"/>
                          </a:solidFill>
                        </a:rPr>
                        <a:t>Admin CRUD </a:t>
                      </a:r>
                      <a:r>
                        <a:rPr lang="en-US" sz="2500" u="none" strike="noStrike" cap="none" dirty="0" err="1">
                          <a:solidFill>
                            <a:srgbClr val="1A2332"/>
                          </a:solidFill>
                        </a:rPr>
                        <a:t>işlemleri</a:t>
                      </a:r>
                      <a:endParaRPr sz="2500" u="none" strike="noStrike" cap="none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0BEC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7" name="Google Shape;247;p6"/>
          <p:cNvSpPr/>
          <p:nvPr/>
        </p:nvSpPr>
        <p:spPr>
          <a:xfrm>
            <a:off x="554355" y="4390859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Tablo 2: Fonksiyonel gereksinimler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3" name="Google Shape;243;p6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Çözümleme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Analiz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Yazılım</a:t>
            </a:r>
            <a:r>
              <a:rPr lang="en-US" sz="3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0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Gereksinimleri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11480" y="978408"/>
            <a:ext cx="4857750" cy="676656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457200" y="978408"/>
            <a:ext cx="38404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868680" y="1014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Güvenlik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868680" y="1271016"/>
            <a:ext cx="549783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CSRF, XSS, SQL Injection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koruması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3617595" y="1792224"/>
            <a:ext cx="4857750" cy="676656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6"/>
          <p:cNvSpPr/>
          <p:nvPr/>
        </p:nvSpPr>
        <p:spPr>
          <a:xfrm>
            <a:off x="3748469" y="1632204"/>
            <a:ext cx="38404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4263390" y="18288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Performans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940493" y="2048256"/>
            <a:ext cx="496062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Async/await, N+1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optimizasyonu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411480" y="2514600"/>
            <a:ext cx="4857750" cy="676656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457200" y="2514600"/>
            <a:ext cx="38404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868680" y="2551176"/>
            <a:ext cx="46863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Kullanılabilirlik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841248" y="2841498"/>
            <a:ext cx="5955030" cy="278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Bootstrap 5 responsive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tasarım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982409" y="3225546"/>
            <a:ext cx="6300216" cy="676656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992124" y="3154680"/>
            <a:ext cx="38404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1376172" y="331241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Bakım</a:t>
            </a:r>
            <a:r>
              <a:rPr lang="en-US" sz="2500" b="1" i="0" u="none" strike="noStrike" cap="none" dirty="0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Kolaylığı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240727" y="3520440"/>
            <a:ext cx="57835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Katmanlı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mimari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, SOLID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prensipleri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2523744" y="3986784"/>
            <a:ext cx="6300216" cy="676656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2523744" y="3904488"/>
            <a:ext cx="38404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2880360" y="4069080"/>
            <a:ext cx="5806440" cy="2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897B"/>
              </a:buClr>
              <a:buSzPts val="10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00897B"/>
                </a:solidFill>
                <a:latin typeface="Calibri"/>
                <a:ea typeface="Calibri"/>
                <a:cs typeface="Calibri"/>
                <a:sym typeface="Calibri"/>
              </a:rPr>
              <a:t>Ölçeklenebilirlik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2903220" y="436168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Bağımsız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servis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katmanları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2715768" y="479145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Fonksiyonel</a:t>
            </a: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olmayan</a:t>
            </a: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gereksinimler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077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320040" y="73152"/>
            <a:ext cx="347400" cy="347400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320040" y="7315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777240" y="73152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Çözümleme</a:t>
            </a: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/Analiz 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Müşteri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Veri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Akış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Şeması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20040" y="48920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Şekil 3: Seviye-0 Veri Akış Şeması (DFD)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62600"/>
            <a:ext cx="9144003" cy="2701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ea4a54d993_0_18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g3ea4a54d993_0_185"/>
          <p:cNvSpPr/>
          <p:nvPr/>
        </p:nvSpPr>
        <p:spPr>
          <a:xfrm>
            <a:off x="320040" y="73152"/>
            <a:ext cx="347400" cy="347400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ea4a54d993_0_185"/>
          <p:cNvSpPr/>
          <p:nvPr/>
        </p:nvSpPr>
        <p:spPr>
          <a:xfrm>
            <a:off x="320040" y="7315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ea4a54d993_0_185"/>
          <p:cNvSpPr/>
          <p:nvPr/>
        </p:nvSpPr>
        <p:spPr>
          <a:xfrm>
            <a:off x="777240" y="73152"/>
            <a:ext cx="900684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Çözümleme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Katalog</a:t>
            </a:r>
            <a:r>
              <a:rPr lang="en-US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Yönetim</a:t>
            </a:r>
            <a:r>
              <a:rPr lang="en-US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Akış</a:t>
            </a:r>
            <a:r>
              <a:rPr lang="en-US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Şeması</a:t>
            </a:r>
            <a:r>
              <a:rPr lang="en-US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ea4a54d993_0_185"/>
          <p:cNvSpPr/>
          <p:nvPr/>
        </p:nvSpPr>
        <p:spPr>
          <a:xfrm>
            <a:off x="320040" y="489204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g3ea4a54d993_0_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00813"/>
            <a:ext cx="8839204" cy="2619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77240" y="73152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Tasarım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</a:t>
            </a: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Kağıt Prototip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3CCC38ED-7763-D9A8-FAE9-2AF8464FB3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351" t="10877" r="11584" b="17208"/>
          <a:stretch/>
        </p:blipFill>
        <p:spPr>
          <a:xfrm rot="16200000">
            <a:off x="1823774" y="-425656"/>
            <a:ext cx="4339742" cy="665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5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77240" y="73152"/>
            <a:ext cx="7772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Tasarım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Nesne-İlişki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Modeli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Veritabanı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Tabloları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5" y="502924"/>
            <a:ext cx="5208050" cy="45674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8" name="Google Shape;348;p9"/>
          <p:cNvGraphicFramePr/>
          <p:nvPr/>
        </p:nvGraphicFramePr>
        <p:xfrm>
          <a:off x="5245225" y="1028825"/>
          <a:ext cx="3689175" cy="3251615"/>
        </p:xfrm>
        <a:graphic>
          <a:graphicData uri="http://schemas.openxmlformats.org/drawingml/2006/table">
            <a:tbl>
              <a:tblPr>
                <a:solidFill>
                  <a:srgbClr val="181818"/>
                </a:solidFill>
                <a:tableStyleId>{CF2433D3-D508-407C-B85F-1D064F24965D}</a:tableStyleId>
              </a:tblPr>
              <a:tblGrid>
                <a:gridCol w="1639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İlişki</a:t>
                      </a:r>
                      <a:endParaRPr sz="1000" b="1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Tip</a:t>
                      </a:r>
                      <a:endParaRPr sz="1000" b="1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Açıklama</a:t>
                      </a:r>
                      <a:endParaRPr sz="1000" b="1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Users → Reviews</a:t>
                      </a:r>
                      <a:endParaRPr sz="1000" dirty="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Kullanıcı birçok yorum yazar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Users → Wishlists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Kullanıcı birçok kitabı takip eder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Users → Shelves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Kullanıcı birçok raf oluşturur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Users → ShoppingCarts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Kullanıcı sepetinde birçok ürün tutar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Users → ChatConversations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Kullanıcı birçok sohbet başlatır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Categories → Products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Kategori birçok kitap içerir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Products → Reviews</a:t>
                      </a:r>
                      <a:endParaRPr sz="1000" dirty="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Kitap birçok yorum alır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Shelves →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ShelfItems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 → Products</a:t>
                      </a:r>
                      <a:endParaRPr sz="1000" dirty="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M:N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Kitap birçok rafta, raf birçok kitap içerir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ChatConversations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 →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ChatMessages</a:t>
                      </a:r>
                      <a:endParaRPr sz="1000" dirty="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1:N</a:t>
                      </a:r>
                      <a:endParaRPr sz="100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Sohbet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birçok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mesaj</a:t>
                      </a:r>
                      <a:r>
                        <a:rPr lang="en-US" sz="1000" dirty="0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CCCCCC"/>
                          </a:solidFill>
                          <a:highlight>
                            <a:srgbClr val="181818"/>
                          </a:highlight>
                        </a:rPr>
                        <a:t>içerir</a:t>
                      </a:r>
                      <a:endParaRPr sz="1000" dirty="0">
                        <a:solidFill>
                          <a:srgbClr val="CCCCCC"/>
                        </a:solidFill>
                        <a:highlight>
                          <a:srgbClr val="181818"/>
                        </a:highlight>
                      </a:endParaRPr>
                    </a:p>
                  </a:txBody>
                  <a:tcPr marL="57150" marR="57150" marT="38100" marB="38100">
                    <a:lnL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84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1" name="Google Shape;361;p10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Gerçekleştirim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Kodlama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000750" y="288036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Uygulama Mimarisi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20040" y="1335024"/>
            <a:ext cx="6876288" cy="516636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0"/>
          <p:cNvSpPr/>
          <p:nvPr/>
        </p:nvSpPr>
        <p:spPr>
          <a:xfrm>
            <a:off x="320040" y="1335024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438912" y="135331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MVC Pattern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438912" y="1554480"/>
            <a:ext cx="735634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Model-View-Controller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ayrımı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temiz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yapı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20040" y="1865376"/>
            <a:ext cx="6876288" cy="521208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20040" y="1865376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438912" y="188366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Service Layer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38912" y="2084832"/>
            <a:ext cx="6521958" cy="21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İş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mantığı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Controller'dan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izole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edildi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20040" y="2395728"/>
            <a:ext cx="6876288" cy="539496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320040" y="2395728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38912" y="241401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Dependency Injection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38912" y="2615184"/>
            <a:ext cx="687628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IoC container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loose coupling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20040" y="2926080"/>
            <a:ext cx="6876288" cy="54864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320040" y="2926080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438912" y="29443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Area-based Org.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32054" y="3122676"/>
            <a:ext cx="6830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Admin / Customer / Identity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alanları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320040" y="3456432"/>
            <a:ext cx="6876288" cy="548640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20040" y="3456432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438912" y="347472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Repository (implicit)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438912" y="3675888"/>
            <a:ext cx="710488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EF Core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DbContext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üzerinden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veri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erişim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320040" y="3986784"/>
            <a:ext cx="6876288" cy="61722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0"/>
          <p:cNvSpPr/>
          <p:nvPr/>
        </p:nvSpPr>
        <p:spPr>
          <a:xfrm>
            <a:off x="320040" y="3986784"/>
            <a:ext cx="45720" cy="457200"/>
          </a:xfrm>
          <a:prstGeom prst="rect">
            <a:avLst/>
          </a:prstGeom>
          <a:solidFill>
            <a:srgbClr val="00897B"/>
          </a:solidFill>
          <a:ln w="12700" cap="flat" cmpd="sng">
            <a:solidFill>
              <a:srgbClr val="00897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438912" y="400507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AJAX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İşlemleri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88620" y="4137660"/>
            <a:ext cx="77449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5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Sayfa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yenilemeden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sepet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yorum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, durum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güncelleme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320040" y="4608576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900"/>
              <a:buFont typeface="Calibri"/>
              <a:buNone/>
            </a:pP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Tablo 5: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Uygulama</a:t>
            </a: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mimarisi</a:t>
            </a:r>
            <a:r>
              <a:rPr lang="en-US" sz="900" b="0" i="1" u="none" strike="noStrike" cap="none" dirty="0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1" u="none" strike="noStrike" cap="none" dirty="0" err="1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bileşenleri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4663440" y="133502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4663440" y="22860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704590" y="27980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4663440" y="323697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663440" y="37124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a4a54d993_0_12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  <a:ln w="952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ea4a54d993_0_129"/>
          <p:cNvSpPr/>
          <p:nvPr/>
        </p:nvSpPr>
        <p:spPr>
          <a:xfrm>
            <a:off x="457200" y="0"/>
            <a:ext cx="97612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FFFFFF"/>
              </a:buClr>
              <a:buSzPts val="2600"/>
            </a:pP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Gerçekleştirim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Kodlama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tr-TR" sz="2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2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Mimarisi</a:t>
            </a:r>
            <a:endParaRPr sz="2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ea4a54d993_0_129"/>
          <p:cNvSpPr/>
          <p:nvPr/>
        </p:nvSpPr>
        <p:spPr>
          <a:xfrm>
            <a:off x="457200" y="930666"/>
            <a:ext cx="7875270" cy="733674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g3ea4a54d993_0_129"/>
          <p:cNvSpPr/>
          <p:nvPr/>
        </p:nvSpPr>
        <p:spPr>
          <a:xfrm>
            <a:off x="548640" y="1042416"/>
            <a:ext cx="4938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a4a54d993_0_129"/>
          <p:cNvSpPr/>
          <p:nvPr/>
        </p:nvSpPr>
        <p:spPr>
          <a:xfrm>
            <a:off x="548640" y="1298448"/>
            <a:ext cx="8268570" cy="122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bookweb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(ASP.NET Core MVC) · Controllers · Views · Areas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a4a54d993_0_129"/>
          <p:cNvSpPr/>
          <p:nvPr/>
        </p:nvSpPr>
        <p:spPr>
          <a:xfrm>
            <a:off x="2560320" y="1664208"/>
            <a:ext cx="109800" cy="100500"/>
          </a:xfrm>
          <a:prstGeom prst="rect">
            <a:avLst/>
          </a:prstGeom>
          <a:solidFill>
            <a:srgbClr val="F4A021"/>
          </a:solidFill>
          <a:ln w="9525" cap="flat" cmpd="sng">
            <a:solidFill>
              <a:srgbClr val="F4A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g3ea4a54d993_0_129"/>
          <p:cNvSpPr/>
          <p:nvPr/>
        </p:nvSpPr>
        <p:spPr>
          <a:xfrm>
            <a:off x="457200" y="1764792"/>
            <a:ext cx="7875270" cy="658500"/>
          </a:xfrm>
          <a:prstGeom prst="rect">
            <a:avLst/>
          </a:prstGeom>
          <a:solidFill>
            <a:srgbClr val="3553A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ea4a54d993_0_129"/>
          <p:cNvSpPr/>
          <p:nvPr/>
        </p:nvSpPr>
        <p:spPr>
          <a:xfrm>
            <a:off x="548640" y="1801368"/>
            <a:ext cx="4938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LAYER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a4a54d993_0_129"/>
          <p:cNvSpPr/>
          <p:nvPr/>
        </p:nvSpPr>
        <p:spPr>
          <a:xfrm>
            <a:off x="548640" y="2057400"/>
            <a:ext cx="804672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20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BookWeb.Business</a:t>
            </a:r>
            <a:r>
              <a:rPr lang="en-US" sz="20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20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CategoryService</a:t>
            </a:r>
            <a:r>
              <a:rPr lang="en-US" sz="20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20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ProductService</a:t>
            </a:r>
            <a:r>
              <a:rPr lang="en-US" sz="20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20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ReviewService</a:t>
            </a:r>
            <a:r>
              <a:rPr lang="en-US" sz="20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a4a54d993_0_129"/>
          <p:cNvSpPr/>
          <p:nvPr/>
        </p:nvSpPr>
        <p:spPr>
          <a:xfrm>
            <a:off x="2560320" y="2423160"/>
            <a:ext cx="109800" cy="100500"/>
          </a:xfrm>
          <a:prstGeom prst="rect">
            <a:avLst/>
          </a:prstGeom>
          <a:solidFill>
            <a:srgbClr val="F4A021"/>
          </a:solidFill>
          <a:ln w="9525" cap="flat" cmpd="sng">
            <a:solidFill>
              <a:srgbClr val="F4A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ea4a54d993_0_129"/>
          <p:cNvSpPr/>
          <p:nvPr/>
        </p:nvSpPr>
        <p:spPr>
          <a:xfrm>
            <a:off x="457200" y="2523744"/>
            <a:ext cx="7875270" cy="658500"/>
          </a:xfrm>
          <a:prstGeom prst="rect">
            <a:avLst/>
          </a:prstGeom>
          <a:solidFill>
            <a:srgbClr val="2D6A9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ea4a54d993_0_129"/>
          <p:cNvSpPr/>
          <p:nvPr/>
        </p:nvSpPr>
        <p:spPr>
          <a:xfrm>
            <a:off x="548640" y="2560320"/>
            <a:ext cx="4938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ACCESS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ea4a54d993_0_129"/>
          <p:cNvSpPr/>
          <p:nvPr/>
        </p:nvSpPr>
        <p:spPr>
          <a:xfrm>
            <a:off x="548640" y="2816352"/>
            <a:ext cx="7669530" cy="319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BookWeb.DataAccess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ApplicationDbContext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Migrations · </a:t>
            </a: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DbInitializer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a4a54d993_0_129"/>
          <p:cNvSpPr/>
          <p:nvPr/>
        </p:nvSpPr>
        <p:spPr>
          <a:xfrm>
            <a:off x="2560320" y="3182112"/>
            <a:ext cx="109800" cy="100500"/>
          </a:xfrm>
          <a:prstGeom prst="rect">
            <a:avLst/>
          </a:prstGeom>
          <a:solidFill>
            <a:srgbClr val="F4A021"/>
          </a:solidFill>
          <a:ln w="9525" cap="flat" cmpd="sng">
            <a:solidFill>
              <a:srgbClr val="F4A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ea4a54d993_0_129"/>
          <p:cNvSpPr/>
          <p:nvPr/>
        </p:nvSpPr>
        <p:spPr>
          <a:xfrm>
            <a:off x="457200" y="3282696"/>
            <a:ext cx="7875270" cy="731760"/>
          </a:xfrm>
          <a:prstGeom prst="rect">
            <a:avLst/>
          </a:prstGeom>
          <a:solidFill>
            <a:srgbClr val="1A7A6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ea4a54d993_0_129"/>
          <p:cNvSpPr/>
          <p:nvPr/>
        </p:nvSpPr>
        <p:spPr>
          <a:xfrm>
            <a:off x="548640" y="3319272"/>
            <a:ext cx="4938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LAYER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a4a54d993_0_129"/>
          <p:cNvSpPr/>
          <p:nvPr/>
        </p:nvSpPr>
        <p:spPr>
          <a:xfrm>
            <a:off x="548640" y="3575304"/>
            <a:ext cx="813816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BookWeb.Models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Entity Models · </a:t>
            </a: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ViewModels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Enums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a4a54d993_0_129"/>
          <p:cNvSpPr/>
          <p:nvPr/>
        </p:nvSpPr>
        <p:spPr>
          <a:xfrm>
            <a:off x="2560320" y="3941064"/>
            <a:ext cx="109800" cy="100500"/>
          </a:xfrm>
          <a:prstGeom prst="rect">
            <a:avLst/>
          </a:prstGeom>
          <a:solidFill>
            <a:srgbClr val="F4A021"/>
          </a:solidFill>
          <a:ln w="9525" cap="flat" cmpd="sng">
            <a:solidFill>
              <a:srgbClr val="F4A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3ea4a54d993_0_129"/>
          <p:cNvSpPr/>
          <p:nvPr/>
        </p:nvSpPr>
        <p:spPr>
          <a:xfrm>
            <a:off x="457200" y="4014456"/>
            <a:ext cx="7875270" cy="1028544"/>
          </a:xfrm>
          <a:prstGeom prst="rect">
            <a:avLst/>
          </a:prstGeom>
          <a:solidFill>
            <a:srgbClr val="6A4C93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ea4a54d993_0_129"/>
          <p:cNvSpPr/>
          <p:nvPr/>
        </p:nvSpPr>
        <p:spPr>
          <a:xfrm>
            <a:off x="548640" y="4078224"/>
            <a:ext cx="4938000" cy="2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UTILITY LAYER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ea4a54d993_0_129"/>
          <p:cNvSpPr/>
          <p:nvPr/>
        </p:nvSpPr>
        <p:spPr>
          <a:xfrm>
            <a:off x="548640" y="4334256"/>
            <a:ext cx="8268570" cy="60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BookWeb.Utility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Constants (Roles) · </a:t>
            </a: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EmailSender</a:t>
            </a:r>
            <a:r>
              <a:rPr lang="en-US" sz="2500" b="0" i="0" u="none" strike="noStrike" cap="none" dirty="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2500" b="0" i="0" u="none" strike="noStrike" cap="none" dirty="0" err="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VerificationCodeStore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a4a54d993_0_129"/>
          <p:cNvSpPr/>
          <p:nvPr/>
        </p:nvSpPr>
        <p:spPr>
          <a:xfrm>
            <a:off x="457200" y="1005840"/>
            <a:ext cx="63900" cy="320100"/>
          </a:xfrm>
          <a:prstGeom prst="rect">
            <a:avLst/>
          </a:prstGeom>
          <a:solidFill>
            <a:srgbClr val="1E2761"/>
          </a:solidFill>
          <a:ln w="9525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362;p10">
            <a:extLst>
              <a:ext uri="{FF2B5EF4-FFF2-40B4-BE49-F238E27FC236}">
                <a16:creationId xmlns:a16="http://schemas.microsoft.com/office/drawing/2014/main" id="{7DBE7DE7-DA1D-DE36-8089-B5666F4D64AD}"/>
              </a:ext>
            </a:extLst>
          </p:cNvPr>
          <p:cNvSpPr/>
          <p:nvPr/>
        </p:nvSpPr>
        <p:spPr>
          <a:xfrm>
            <a:off x="7610094" y="50993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61;p10">
            <a:extLst>
              <a:ext uri="{FF2B5EF4-FFF2-40B4-BE49-F238E27FC236}">
                <a16:creationId xmlns:a16="http://schemas.microsoft.com/office/drawing/2014/main" id="{6FA64C89-E767-9D57-6404-4615AE997F2A}"/>
              </a:ext>
            </a:extLst>
          </p:cNvPr>
          <p:cNvSpPr/>
          <p:nvPr/>
        </p:nvSpPr>
        <p:spPr>
          <a:xfrm>
            <a:off x="29718" y="28346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62;p10">
            <a:extLst>
              <a:ext uri="{FF2B5EF4-FFF2-40B4-BE49-F238E27FC236}">
                <a16:creationId xmlns:a16="http://schemas.microsoft.com/office/drawing/2014/main" id="{FADF9189-CA72-F47C-0563-E0B33963C7A3}"/>
              </a:ext>
            </a:extLst>
          </p:cNvPr>
          <p:cNvSpPr/>
          <p:nvPr/>
        </p:nvSpPr>
        <p:spPr>
          <a:xfrm>
            <a:off x="25146" y="28346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682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g3ea4a54d993_0_214"/>
          <p:cNvPicPr preferRelativeResize="0"/>
          <p:nvPr/>
        </p:nvPicPr>
        <p:blipFill rotWithShape="1">
          <a:blip r:embed="rId3">
            <a:alphaModFix/>
          </a:blip>
          <a:srcRect r="13181" b="64055"/>
          <a:stretch/>
        </p:blipFill>
        <p:spPr>
          <a:xfrm>
            <a:off x="110280" y="452783"/>
            <a:ext cx="5719020" cy="455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54;g3ea4a54d993_0_214">
            <a:extLst>
              <a:ext uri="{FF2B5EF4-FFF2-40B4-BE49-F238E27FC236}">
                <a16:creationId xmlns:a16="http://schemas.microsoft.com/office/drawing/2014/main" id="{5B3DBBB5-F672-57AE-A962-9B565AADA47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1243" t="32936"/>
          <a:stretch/>
        </p:blipFill>
        <p:spPr>
          <a:xfrm>
            <a:off x="4400549" y="137161"/>
            <a:ext cx="4675183" cy="50063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4EB6E5AE-892B-704F-F535-D1864E14014B}"/>
              </a:ext>
            </a:extLst>
          </p:cNvPr>
          <p:cNvSpPr txBox="1"/>
          <p:nvPr/>
        </p:nvSpPr>
        <p:spPr>
          <a:xfrm>
            <a:off x="68268" y="45720"/>
            <a:ext cx="4572000" cy="416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rgbClr val="CCCCCC"/>
                </a:solidFill>
                <a:highlight>
                  <a:srgbClr val="181818"/>
                </a:highlight>
              </a:rPr>
              <a:t>AI Çalışma Mantığı Şeması </a:t>
            </a:r>
            <a:endParaRPr lang="en-US" sz="2000" dirty="0">
              <a:solidFill>
                <a:srgbClr val="CCCCCC"/>
              </a:solidFill>
              <a:highlight>
                <a:srgbClr val="181818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Bakım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Destek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Sürdürülebilirlik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Güncellemeler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45;p6">
            <a:extLst>
              <a:ext uri="{FF2B5EF4-FFF2-40B4-BE49-F238E27FC236}">
                <a16:creationId xmlns:a16="http://schemas.microsoft.com/office/drawing/2014/main" id="{D21CD4E4-1F46-28E2-2FF0-890CC4744A1B}"/>
              </a:ext>
            </a:extLst>
          </p:cNvPr>
          <p:cNvSpPr/>
          <p:nvPr/>
        </p:nvSpPr>
        <p:spPr>
          <a:xfrm>
            <a:off x="1811655" y="857033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A2EC37F8-1FA2-2837-9C1F-1B3EC5B48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79104"/>
            <a:ext cx="8356644" cy="24358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26" name="Google Shape;526;p13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27" name="Google Shape;527;p13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Sonuç</a:t>
            </a:r>
            <a:r>
              <a:rPr lang="en-US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Değerlendirme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4572000" y="13944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25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Çıktıları</a:t>
            </a:r>
            <a:r>
              <a:rPr lang="en-US" sz="25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en-US" sz="25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Güçlü</a:t>
            </a:r>
            <a:r>
              <a:rPr lang="en-US" sz="25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Yönler</a:t>
            </a:r>
            <a:endParaRPr sz="25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320040" y="914400"/>
            <a:ext cx="8147304" cy="420624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31" name="Google Shape;531;p13"/>
          <p:cNvSpPr/>
          <p:nvPr/>
        </p:nvSpPr>
        <p:spPr>
          <a:xfrm>
            <a:off x="-32004" y="49377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224028" y="5440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Katmanlı</a:t>
            </a: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Mimari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2510028" y="521208"/>
            <a:ext cx="7708392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Temiz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kod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organizasyonu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sorumluluk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ayrımı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68046" y="1353312"/>
            <a:ext cx="8099298" cy="42062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35" name="Google Shape;535;p13"/>
          <p:cNvSpPr/>
          <p:nvPr/>
        </p:nvSpPr>
        <p:spPr>
          <a:xfrm>
            <a:off x="-32004" y="848106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224028" y="914400"/>
            <a:ext cx="46908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Entegrasyonu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2430018" y="933831"/>
            <a:ext cx="778840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DeepSeek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API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modern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kişiselleştirilmiş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öneri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320040" y="1883664"/>
            <a:ext cx="8165592" cy="420624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39" name="Google Shape;539;p13"/>
          <p:cNvSpPr/>
          <p:nvPr/>
        </p:nvSpPr>
        <p:spPr>
          <a:xfrm>
            <a:off x="2286" y="1353312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18897" y="1412748"/>
            <a:ext cx="5250942" cy="13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Kapsamlı</a:t>
            </a: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Özellikler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3003804" y="1380744"/>
            <a:ext cx="81655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E-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ticaret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tr-TR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Kitap Arşivi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+ AI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asistan</a:t>
            </a:r>
            <a:r>
              <a:rPr lang="tr-TR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birlikte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320040" y="2368296"/>
            <a:ext cx="8147304" cy="42062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43" name="Google Shape;543;p13"/>
          <p:cNvSpPr/>
          <p:nvPr/>
        </p:nvSpPr>
        <p:spPr>
          <a:xfrm>
            <a:off x="62865" y="1943100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658368" y="2386584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658367" y="2411730"/>
            <a:ext cx="7808977" cy="35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320040" y="2852928"/>
            <a:ext cx="8147304" cy="420624"/>
          </a:xfrm>
          <a:prstGeom prst="rect">
            <a:avLst/>
          </a:prstGeom>
          <a:solidFill>
            <a:srgbClr val="E3F2FD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47" name="Google Shape;547;p13"/>
          <p:cNvSpPr/>
          <p:nvPr/>
        </p:nvSpPr>
        <p:spPr>
          <a:xfrm>
            <a:off x="0" y="2386584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406908" y="1911096"/>
            <a:ext cx="4256532" cy="32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Responsive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Tasarım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3150108" y="1981962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Bootstrap 5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tüm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cihaz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uyumlu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320040" y="3337560"/>
            <a:ext cx="8147304" cy="42062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/>
          </a:p>
        </p:txBody>
      </p:sp>
      <p:sp>
        <p:nvSpPr>
          <p:cNvPr id="551" name="Google Shape;551;p13"/>
          <p:cNvSpPr/>
          <p:nvPr/>
        </p:nvSpPr>
        <p:spPr>
          <a:xfrm>
            <a:off x="41148" y="2912364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406908" y="2500884"/>
            <a:ext cx="566242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Async/Await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2310003" y="2393442"/>
            <a:ext cx="74569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Performanslı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non-blocking I/O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operasyonları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41148" y="3438144"/>
            <a:ext cx="25603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318897" y="2951226"/>
            <a:ext cx="6062472" cy="16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CSV Seed Data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2404872" y="3009519"/>
            <a:ext cx="6062472" cy="59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500+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kitap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otomatik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veritabanı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yükleme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406908" y="3445002"/>
            <a:ext cx="7376922" cy="16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5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Modüler</a:t>
            </a:r>
            <a:r>
              <a:rPr lang="en-US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1" i="0" u="none" strike="noStrike" cap="none" dirty="0" err="1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Yapı</a:t>
            </a:r>
            <a:r>
              <a:rPr lang="tr-TR" sz="25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2310003" y="3495294"/>
            <a:ext cx="6400800" cy="59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800"/>
              <a:buFont typeface="Calibri"/>
              <a:buNone/>
            </a:pP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5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ayrı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proje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ile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gevşek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00" b="0" i="0" u="none" strike="noStrike" cap="none" dirty="0" err="1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bağlılık</a:t>
            </a:r>
            <a:r>
              <a:rPr lang="en-US" sz="2500" b="0" i="0" u="none" strike="noStrike" cap="none" dirty="0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 (loose coupling)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r>
              <a:rPr lang="tr-TR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7F22A585-6971-B9C9-8B30-BB97E2AC3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072"/>
            <a:ext cx="9144000" cy="429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935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r>
              <a:rPr lang="tr-TR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1B2522B-F476-53C5-7086-0F62D99EE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798"/>
            <a:ext cx="9144000" cy="435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27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 </a:t>
            </a:r>
            <a:r>
              <a:rPr lang="tr-TR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Page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50AE033-B3C1-320A-747F-21134EB1B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5428"/>
            <a:ext cx="9144000" cy="415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886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</a:t>
            </a: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794CDB7-85EF-B1A2-E9C9-59CA2DA480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25" t="294" r="32000" b="-1"/>
          <a:stretch/>
        </p:blipFill>
        <p:spPr>
          <a:xfrm>
            <a:off x="160020" y="714116"/>
            <a:ext cx="3006090" cy="4058165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EEE3A2E8-0610-6046-8D48-B140D85BD9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500" t="7800" r="32625" b="5355"/>
          <a:stretch/>
        </p:blipFill>
        <p:spPr>
          <a:xfrm>
            <a:off x="3406140" y="714116"/>
            <a:ext cx="3394710" cy="40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– 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Forgot</a:t>
            </a: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CB154F8-4622-BA2A-EA53-F92676FEE6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20" t="3347" r="32016"/>
          <a:stretch/>
        </p:blipFill>
        <p:spPr>
          <a:xfrm>
            <a:off x="0" y="502920"/>
            <a:ext cx="3692029" cy="354127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A3912A1-12E3-CA52-AAB1-07982CDE90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1875" t="5343" r="30125" b="4104"/>
          <a:stretch/>
        </p:blipFill>
        <p:spPr>
          <a:xfrm>
            <a:off x="3681746" y="585216"/>
            <a:ext cx="4335523" cy="326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526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side</a:t>
            </a: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7AAFE09-0958-441A-464F-C65AF19F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282"/>
            <a:ext cx="9144000" cy="40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839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CF86A61-17A1-B81D-B4B0-816154D18D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87" t="13181" r="15986" b="1673"/>
          <a:stretch/>
        </p:blipFill>
        <p:spPr>
          <a:xfrm>
            <a:off x="0" y="576072"/>
            <a:ext cx="4401747" cy="2697481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984CAD2-14A1-44F1-08AC-A3D8A15B40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525" t="63366" r="14621" b="727"/>
          <a:stretch/>
        </p:blipFill>
        <p:spPr>
          <a:xfrm>
            <a:off x="1507398" y="3461521"/>
            <a:ext cx="5788698" cy="1385315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0497DED4-F2C9-DA51-1A43-3166BE15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92" t="7036" r="39490" b="41878"/>
          <a:stretch/>
        </p:blipFill>
        <p:spPr>
          <a:xfrm>
            <a:off x="4387188" y="628650"/>
            <a:ext cx="4696102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82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6577644D-FFC2-DF30-B6EE-E6F58996E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14" y="604550"/>
            <a:ext cx="8436011" cy="1865569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B0B07841-6FBD-97AD-A504-BD79125D5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571750"/>
            <a:ext cx="8366760" cy="236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User-</a:t>
            </a:r>
            <a:r>
              <a:rPr lang="tr-TR" sz="25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side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96717D3-19C2-C843-C4D8-11ED79503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6072"/>
            <a:ext cx="9144000" cy="423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036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DD00D7B-B6BF-02A3-5133-67D68E093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107"/>
          <a:stretch/>
        </p:blipFill>
        <p:spPr>
          <a:xfrm>
            <a:off x="0" y="457413"/>
            <a:ext cx="9144000" cy="502920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4E961F4E-2530-64BF-2C4C-593D88CF2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97122"/>
            <a:ext cx="6697980" cy="274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51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tr-TR" sz="25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1D0707A9-D96C-C397-258D-3DE3D4587FF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1818" b="58479"/>
          <a:stretch/>
        </p:blipFill>
        <p:spPr>
          <a:xfrm>
            <a:off x="0" y="502921"/>
            <a:ext cx="5760720" cy="1108710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1C4A30A8-70A2-057A-E7C0-F8C6DD667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0" y="1670997"/>
            <a:ext cx="9144000" cy="180150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B69EF2D-C55E-2BF6-1C80-28784556C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72502"/>
            <a:ext cx="6389370" cy="165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33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320040" y="621792"/>
            <a:ext cx="8449056" cy="60350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374904" y="621792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795528" y="658368"/>
            <a:ext cx="810844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Microsoft Corporation. ASP.NET Core documentation. https://docs.microsoft.com/aspnet/core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320040" y="1316736"/>
            <a:ext cx="8449056" cy="6035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374904" y="1316736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[2]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795528" y="1353312"/>
            <a:ext cx="79735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b="0" i="0" u="none" strike="noStrike" cap="none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Microsoft Corporation. Entity Framework Core documentation. https://docs.microsoft.com/ef/core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320040" y="2011680"/>
            <a:ext cx="8449056" cy="603504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374904" y="2011680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[3]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4"/>
          <p:cNvSpPr/>
          <p:nvPr/>
        </p:nvSpPr>
        <p:spPr>
          <a:xfrm>
            <a:off x="795528" y="2048256"/>
            <a:ext cx="363016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320040" y="2706624"/>
            <a:ext cx="8449056" cy="60350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374904" y="2706624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795528" y="2048263"/>
            <a:ext cx="8028432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Khatri, M. (2024). Books Dataset [Veri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seti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]. Kaggle.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https://www.kaggle.com/datasets/madankhatri123h/books-dataset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320040" y="3401568"/>
            <a:ext cx="8449056" cy="6036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0" name="Google Shape;610;p14"/>
          <p:cNvSpPr/>
          <p:nvPr/>
        </p:nvSpPr>
        <p:spPr>
          <a:xfrm>
            <a:off x="374904" y="3401568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[5]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795528" y="2743194"/>
            <a:ext cx="8028432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DeepSeek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, "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DeepSeek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Chatbot Model,"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Sürüm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V4, 2026. </a:t>
            </a:r>
            <a:endParaRPr lang="tr-TR" sz="2000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https://www.deepseek.com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320039" y="4114777"/>
            <a:ext cx="8449055" cy="78099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613" name="Google Shape;613;p14"/>
          <p:cNvSpPr/>
          <p:nvPr/>
        </p:nvSpPr>
        <p:spPr>
          <a:xfrm>
            <a:off x="374904" y="4096512"/>
            <a:ext cx="384048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[6]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4"/>
          <p:cNvSpPr/>
          <p:nvPr/>
        </p:nvSpPr>
        <p:spPr>
          <a:xfrm>
            <a:off x="795464" y="3492975"/>
            <a:ext cx="7973631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Anthropic. (2026). Claude (Claude 4.6 Sonnet).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https://claude.ai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914267" y="4187881"/>
            <a:ext cx="36303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endParaRPr sz="750" dirty="0">
              <a:solidFill>
                <a:srgbClr val="1A23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6B76148B-2A88-AA25-80DA-898271C53E3D}"/>
              </a:ext>
            </a:extLst>
          </p:cNvPr>
          <p:cNvSpPr txBox="1"/>
          <p:nvPr/>
        </p:nvSpPr>
        <p:spPr>
          <a:xfrm>
            <a:off x="758952" y="4187881"/>
            <a:ext cx="8010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tr-TR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Udemy</a:t>
            </a:r>
            <a:r>
              <a:rPr lang="tr-TR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fr-FR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https://www.udemy.com/course/complete-aspnet-core-21-course/?couponCode=KEEPLEARNING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030A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320040" y="7315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tr-TR" sz="25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77240" y="73152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5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240030" y="621742"/>
            <a:ext cx="8577560" cy="6036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7" name="Google Shape;617;p14"/>
          <p:cNvSpPr/>
          <p:nvPr/>
        </p:nvSpPr>
        <p:spPr>
          <a:xfrm>
            <a:off x="514350" y="672056"/>
            <a:ext cx="815715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Bootstrap Authors. (2026). Bootstrap Icons [İkon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Kütüphanesi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https://icons.getbootstrap.com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240868" y="658318"/>
            <a:ext cx="3840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900" b="1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4"/>
          <p:cNvSpPr/>
          <p:nvPr/>
        </p:nvSpPr>
        <p:spPr>
          <a:xfrm>
            <a:off x="240030" y="1316699"/>
            <a:ext cx="8577560" cy="603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240030" y="1275504"/>
            <a:ext cx="3840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900" b="1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624030" y="1371600"/>
            <a:ext cx="804747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CodeSeven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. (2026).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Toastr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Yazılım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kütüphanesi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https://codeseven.github.io/toastr/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240030" y="2011630"/>
            <a:ext cx="8577560" cy="603600"/>
          </a:xfrm>
          <a:prstGeom prst="rect">
            <a:avLst/>
          </a:prstGeom>
          <a:solidFill>
            <a:srgbClr val="F5F7FA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240030" y="1984329"/>
            <a:ext cx="3840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900" b="1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240030" y="2048206"/>
            <a:ext cx="852294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624030" y="2066588"/>
            <a:ext cx="8014023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SweetAlert2. (2026). SweetAlert2 [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Yazılım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kütüphanesi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https://sweetalert2.github.io/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240030" y="2743299"/>
            <a:ext cx="8577560" cy="603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0BE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514350" y="2779869"/>
            <a:ext cx="8248628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750"/>
              <a:buFont typeface="Calibri"/>
              <a:buNone/>
            </a:pP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Quill. (2026). Quill [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Yazılım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kütüphanesi</a:t>
            </a:r>
            <a:r>
              <a:rPr lang="en-US" sz="2000" dirty="0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].</a:t>
            </a:r>
            <a:r>
              <a:rPr lang="en-US" sz="2000" dirty="0">
                <a:solidFill>
                  <a:srgbClr val="1A2332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https://quilljs.com/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241443" y="2679260"/>
            <a:ext cx="3840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tr-TR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900" b="1" i="0" u="none" strike="noStrike" cap="none" dirty="0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9829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2E"/>
        </a:solidFill>
        <a:effectLst/>
      </p:bgPr>
    </p:bg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5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565C0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914400" y="822960"/>
            <a:ext cx="7315200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tr-TR" sz="5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Dinlediğiniz için teşekkür ederim!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15"/>
          <p:cNvCxnSpPr/>
          <p:nvPr/>
        </p:nvCxnSpPr>
        <p:spPr>
          <a:xfrm>
            <a:off x="1828800" y="2103120"/>
            <a:ext cx="5486400" cy="0"/>
          </a:xfrm>
          <a:prstGeom prst="straightConnector1">
            <a:avLst/>
          </a:prstGeom>
          <a:noFill/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9" name="Google Shape;639;p15"/>
          <p:cNvSpPr/>
          <p:nvPr/>
        </p:nvSpPr>
        <p:spPr>
          <a:xfrm>
            <a:off x="914400" y="226771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📚 </a:t>
            </a:r>
            <a:r>
              <a:rPr lang="tr-TR" sz="2200" b="1" i="0" u="none" strike="noStrike" cap="none" dirty="0" err="1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BookMark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5"/>
          <p:cNvSpPr/>
          <p:nvPr/>
        </p:nvSpPr>
        <p:spPr>
          <a:xfrm>
            <a:off x="914400" y="269748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Online </a:t>
            </a:r>
            <a:r>
              <a:rPr lang="tr-TR" sz="1200" b="0" i="1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Kitap Satış </a:t>
            </a:r>
            <a:r>
              <a:rPr lang="en-US" sz="1200" b="0" i="1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lang="tr-TR" sz="1200" i="1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Keşif Platformu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1828800" y="3108960"/>
            <a:ext cx="5486400" cy="1417320"/>
          </a:xfrm>
          <a:prstGeom prst="rect">
            <a:avLst/>
          </a:prstGeom>
          <a:solidFill>
            <a:srgbClr val="0A1929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1828800" y="3108960"/>
            <a:ext cx="45720" cy="1417320"/>
          </a:xfrm>
          <a:prstGeom prst="rect">
            <a:avLst/>
          </a:prstGeom>
          <a:solidFill>
            <a:srgbClr val="42A5F5"/>
          </a:solidFill>
          <a:ln w="12700" cap="flat" cmpd="sng">
            <a:solidFill>
              <a:srgbClr val="42A5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1965960" y="3182112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2A5F5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 err="1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İletişim</a:t>
            </a:r>
            <a:r>
              <a:rPr lang="en-US" sz="1100" b="1" i="0" u="none" strike="noStrike" cap="none" dirty="0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1" i="0" u="none" strike="noStrike" cap="none" dirty="0" err="1">
                <a:solidFill>
                  <a:srgbClr val="42A5F5"/>
                </a:solidFill>
                <a:latin typeface="Calibri"/>
                <a:ea typeface="Calibri"/>
                <a:cs typeface="Calibri"/>
                <a:sym typeface="Calibri"/>
              </a:rPr>
              <a:t>Bilgileri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2011680" y="3477006"/>
            <a:ext cx="5017770" cy="15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👤 Ad </a:t>
            </a:r>
            <a:r>
              <a:rPr lang="en-US" sz="2000" b="1" i="0" u="none" strike="noStrike" cap="none" dirty="0" err="1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Soyad</a:t>
            </a:r>
            <a:r>
              <a:rPr lang="en-US" sz="20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tr-TR" sz="20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İLAYDA KÖKER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3383280" y="350215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5"/>
          <p:cNvSpPr/>
          <p:nvPr/>
        </p:nvSpPr>
        <p:spPr>
          <a:xfrm>
            <a:off x="1965960" y="373989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3383280" y="3739896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1965960" y="4067937"/>
            <a:ext cx="5212080" cy="157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r>
              <a:rPr lang="en-US" sz="25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📧 E-</a:t>
            </a:r>
            <a:r>
              <a:rPr lang="en-US" sz="2500" b="1" i="0" u="none" strike="noStrike" cap="none" dirty="0" err="1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posta</a:t>
            </a:r>
            <a:r>
              <a:rPr lang="en-US" sz="25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tr-TR" sz="25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5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ilaydakoker5@gmail.com</a:t>
            </a:r>
            <a:r>
              <a:rPr lang="tr-TR" sz="25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	262484059@uludag.edu.tr</a:t>
            </a:r>
            <a:endParaRPr sz="2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3383280" y="397764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5"/>
          <p:cNvSpPr/>
          <p:nvPr/>
        </p:nvSpPr>
        <p:spPr>
          <a:xfrm>
            <a:off x="1965960" y="4215384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50"/>
              <a:buFont typeface="Calibri"/>
              <a:buNone/>
            </a:pP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3383280" y="4215384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1074</Words>
  <Application>Microsoft Office PowerPoint</Application>
  <PresentationFormat>Ekran Gösterisi (16:9)</PresentationFormat>
  <Paragraphs>292</Paragraphs>
  <Slides>30</Slides>
  <Notes>30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PptxGenJS</dc:creator>
  <cp:lastModifiedBy>İlayda</cp:lastModifiedBy>
  <cp:revision>2</cp:revision>
  <dcterms:created xsi:type="dcterms:W3CDTF">2026-06-08T18:23:03Z</dcterms:created>
  <dcterms:modified xsi:type="dcterms:W3CDTF">2026-06-15T18:29:46Z</dcterms:modified>
</cp:coreProperties>
</file>